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ea6176b7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ea6176b7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ea6176b73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ea6176b7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ea9e076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ea9e076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ea6176b7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ea6176b7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ea6176b73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ea6176b73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ea6176b73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ea6176b73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ea6176b73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ea6176b73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ea6176b7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ea6176b7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ea6176b7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ea6176b7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ea6176b7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ea6176b7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7.jpg"/><Relationship Id="rId5" Type="http://schemas.openxmlformats.org/officeDocument/2006/relationships/image" Target="../media/image1.png"/><Relationship Id="rId6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51475" y="395575"/>
            <a:ext cx="2871600" cy="3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alibri"/>
                <a:ea typeface="Calibri"/>
                <a:cs typeface="Calibri"/>
                <a:sym typeface="Calibri"/>
              </a:rPr>
              <a:t>INDIAN INSTITUTE OF TECHNOLOGY KHARAGPUR</a:t>
            </a:r>
            <a:endParaRPr sz="1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51475" y="1638950"/>
            <a:ext cx="8520600" cy="1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-GB" sz="66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SNAP - FPGA</a:t>
            </a:r>
            <a:endParaRPr sz="66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35100" y="675700"/>
            <a:ext cx="4973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8CCE8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Department of Electronics &amp; Electrical Communication Engineering</a:t>
            </a:r>
            <a:endParaRPr sz="1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  <p:cxnSp>
        <p:nvCxnSpPr>
          <p:cNvPr id="57" name="Google Shape;57;p13"/>
          <p:cNvCxnSpPr/>
          <p:nvPr/>
        </p:nvCxnSpPr>
        <p:spPr>
          <a:xfrm flipH="1" rot="10800000">
            <a:off x="580425" y="1086950"/>
            <a:ext cx="8311200" cy="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3"/>
          <p:cNvSpPr/>
          <p:nvPr/>
        </p:nvSpPr>
        <p:spPr>
          <a:xfrm>
            <a:off x="580435" y="3549608"/>
            <a:ext cx="5029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CE8"/>
              </a:buClr>
              <a:buSzPts val="1300"/>
              <a:buFont typeface="Calibri"/>
              <a:buNone/>
            </a:pPr>
            <a:r>
              <a:rPr b="1"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Number: 02</a:t>
            </a:r>
            <a:br>
              <a:rPr b="1"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Jeevan | Durga Prasad | Vamshikrishna | Sai Kavya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580435" y="4160450"/>
            <a:ext cx="5486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5C5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Supervisor: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Aniket Singha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411480" y="365760"/>
            <a:ext cx="63900" cy="4389000"/>
          </a:xfrm>
          <a:prstGeom prst="rect">
            <a:avLst/>
          </a:prstGeom>
          <a:solidFill>
            <a:srgbClr val="3D7EBF"/>
          </a:solidFill>
          <a:ln cap="flat" cmpd="sng" w="12700">
            <a:solidFill>
              <a:srgbClr val="3D7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1076" y="244275"/>
            <a:ext cx="649399" cy="7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580425" y="3046825"/>
            <a:ext cx="18789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LAB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482375" y="419325"/>
            <a:ext cx="759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BLOCK DIAGRAM</a:t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14"/>
          <p:cNvCxnSpPr/>
          <p:nvPr/>
        </p:nvCxnSpPr>
        <p:spPr>
          <a:xfrm>
            <a:off x="495975" y="1038225"/>
            <a:ext cx="8341200" cy="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076" y="244275"/>
            <a:ext cx="649399" cy="7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60550" y="44925"/>
            <a:ext cx="381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152652" y="188549"/>
            <a:ext cx="63900" cy="4766400"/>
          </a:xfrm>
          <a:prstGeom prst="rect">
            <a:avLst/>
          </a:prstGeom>
          <a:solidFill>
            <a:srgbClr val="3D7EBF"/>
          </a:solidFill>
          <a:ln cap="flat" cmpd="sng" w="12700">
            <a:solidFill>
              <a:srgbClr val="3D7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75" y="1295400"/>
            <a:ext cx="8354801" cy="34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482375" y="419325"/>
            <a:ext cx="759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STAGE - 01: BACKGROUND ADDITION </a:t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15"/>
          <p:cNvCxnSpPr/>
          <p:nvPr/>
        </p:nvCxnSpPr>
        <p:spPr>
          <a:xfrm>
            <a:off x="495975" y="1038225"/>
            <a:ext cx="8341200" cy="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076" y="244275"/>
            <a:ext cx="649399" cy="7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60550" y="44925"/>
            <a:ext cx="381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152652" y="188549"/>
            <a:ext cx="63900" cy="4766400"/>
          </a:xfrm>
          <a:prstGeom prst="rect">
            <a:avLst/>
          </a:prstGeom>
          <a:solidFill>
            <a:srgbClr val="3D7EBF"/>
          </a:solidFill>
          <a:ln cap="flat" cmpd="sng" w="12700">
            <a:solidFill>
              <a:srgbClr val="3D7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988" y="1982762"/>
            <a:ext cx="8657176" cy="117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82375" y="419325"/>
            <a:ext cx="759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BACKGROUND ADDITION </a:t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16"/>
          <p:cNvCxnSpPr/>
          <p:nvPr/>
        </p:nvCxnSpPr>
        <p:spPr>
          <a:xfrm>
            <a:off x="495975" y="1038225"/>
            <a:ext cx="8341200" cy="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076" y="244275"/>
            <a:ext cx="649399" cy="7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60550" y="44925"/>
            <a:ext cx="381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52652" y="188549"/>
            <a:ext cx="63900" cy="4766400"/>
          </a:xfrm>
          <a:prstGeom prst="rect">
            <a:avLst/>
          </a:prstGeom>
          <a:solidFill>
            <a:srgbClr val="3D7EBF"/>
          </a:solidFill>
          <a:ln cap="flat" cmpd="sng" w="12700">
            <a:solidFill>
              <a:srgbClr val="3D7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0550" y="1242100"/>
            <a:ext cx="2659325" cy="25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5738" y="1213000"/>
            <a:ext cx="2494374" cy="25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8950" y="1224525"/>
            <a:ext cx="2854399" cy="255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482375" y="419325"/>
            <a:ext cx="759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STAGE - 02 : FILTERS AND EQUATIONS </a:t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>
            <a:off x="495975" y="1038225"/>
            <a:ext cx="8341200" cy="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076" y="244275"/>
            <a:ext cx="649399" cy="7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60550" y="44925"/>
            <a:ext cx="381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152652" y="188549"/>
            <a:ext cx="63900" cy="4766400"/>
          </a:xfrm>
          <a:prstGeom prst="rect">
            <a:avLst/>
          </a:prstGeom>
          <a:solidFill>
            <a:srgbClr val="3D7EBF"/>
          </a:solidFill>
          <a:ln cap="flat" cmpd="sng" w="12700">
            <a:solidFill>
              <a:srgbClr val="3D7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384049" y="1438709"/>
            <a:ext cx="1316700" cy="548700"/>
          </a:xfrm>
          <a:prstGeom prst="rect">
            <a:avLst/>
          </a:prstGeom>
          <a:solidFill>
            <a:srgbClr val="1E8C7A"/>
          </a:solidFill>
          <a:ln cap="flat" cmpd="sng" w="12700">
            <a:solidFill>
              <a:srgbClr val="1E8C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9BADC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384049" y="1438709"/>
            <a:ext cx="131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SW[0]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GB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filters_en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i="1" lang="en-GB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Enable Stage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1847089" y="1438709"/>
            <a:ext cx="1316700" cy="548700"/>
          </a:xfrm>
          <a:prstGeom prst="rect">
            <a:avLst/>
          </a:prstGeom>
          <a:solidFill>
            <a:srgbClr val="C49000"/>
          </a:solidFill>
          <a:ln cap="flat" cmpd="sng" w="12700">
            <a:solidFill>
              <a:srgbClr val="C4900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9BADC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1847089" y="1438709"/>
            <a:ext cx="131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SW[1]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GB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enhance_en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i="1" lang="en-GB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HSV brightness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310129" y="1438709"/>
            <a:ext cx="1316700" cy="548700"/>
          </a:xfrm>
          <a:prstGeom prst="rect">
            <a:avLst/>
          </a:prstGeom>
          <a:solidFill>
            <a:srgbClr val="E07000"/>
          </a:solidFill>
          <a:ln cap="flat" cmpd="sng" w="12700">
            <a:solidFill>
              <a:srgbClr val="E0700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9BADC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3310129" y="1438709"/>
            <a:ext cx="131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SW[3:2]=00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GB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i="1" lang="en-GB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Warm matrix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4773169" y="1438709"/>
            <a:ext cx="1316700" cy="548700"/>
          </a:xfrm>
          <a:prstGeom prst="rect">
            <a:avLst/>
          </a:prstGeom>
          <a:solidFill>
            <a:srgbClr val="C0303A"/>
          </a:solidFill>
          <a:ln cap="flat" cmpd="sng" w="12700">
            <a:solidFill>
              <a:srgbClr val="C0303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9BADC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4773169" y="1438709"/>
            <a:ext cx="131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SW[3:2]=01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GB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i="1" lang="en-GB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255−channel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6236209" y="1438709"/>
            <a:ext cx="1316700" cy="548700"/>
          </a:xfrm>
          <a:prstGeom prst="rect">
            <a:avLst/>
          </a:prstGeom>
          <a:solidFill>
            <a:srgbClr val="0096B7"/>
          </a:solidFill>
          <a:ln cap="flat" cmpd="sng" w="12700">
            <a:solidFill>
              <a:srgbClr val="0096B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9BADC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6236209" y="1438709"/>
            <a:ext cx="131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SW[3:2]=10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GB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i="1" lang="en-GB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Sobel gradient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7699249" y="1438709"/>
            <a:ext cx="1316700" cy="548700"/>
          </a:xfrm>
          <a:prstGeom prst="rect">
            <a:avLst/>
          </a:prstGeom>
          <a:solidFill>
            <a:srgbClr val="6B4FA0"/>
          </a:solidFill>
          <a:ln cap="flat" cmpd="sng" w="12700">
            <a:solidFill>
              <a:srgbClr val="6B4F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9BADC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699249" y="1438709"/>
            <a:ext cx="131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SW[3:2]=11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GB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CARTOON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i="1" lang="en-GB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Gauss + Sobel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20625" y="2478839"/>
            <a:ext cx="4160400" cy="292500"/>
          </a:xfrm>
          <a:prstGeom prst="rect">
            <a:avLst/>
          </a:prstGeom>
          <a:solidFill>
            <a:srgbClr val="E07000"/>
          </a:solidFill>
          <a:ln cap="flat" cmpd="sng" w="12700">
            <a:solidFill>
              <a:srgbClr val="E0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20625" y="2478839"/>
            <a:ext cx="416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SEPIA  (SW[3:2]=00)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512065" y="2808023"/>
            <a:ext cx="3977700" cy="548700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E0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548641" y="2817167"/>
            <a:ext cx="3904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500"/>
              </a:buClr>
              <a:buSzPts val="950"/>
              <a:buFont typeface="Consolas"/>
              <a:buNone/>
            </a:pPr>
            <a:r>
              <a:rPr b="1" lang="en-GB" sz="950">
                <a:solidFill>
                  <a:srgbClr val="7A3500"/>
                </a:solidFill>
                <a:latin typeface="Consolas"/>
                <a:ea typeface="Consolas"/>
                <a:cs typeface="Consolas"/>
                <a:sym typeface="Consolas"/>
              </a:rPr>
              <a:t>Rout = 0.393R + 0.769G + 0.189B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500"/>
              </a:buClr>
              <a:buSzPts val="950"/>
              <a:buFont typeface="Consolas"/>
              <a:buNone/>
            </a:pPr>
            <a:r>
              <a:rPr b="1" lang="en-GB" sz="950">
                <a:solidFill>
                  <a:srgbClr val="7A3500"/>
                </a:solidFill>
                <a:latin typeface="Consolas"/>
                <a:ea typeface="Consolas"/>
                <a:cs typeface="Consolas"/>
                <a:sym typeface="Consolas"/>
              </a:rPr>
              <a:t>Gout = 0.349R + 0.686G + 0.168B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500"/>
              </a:buClr>
              <a:buSzPts val="950"/>
              <a:buFont typeface="Consolas"/>
              <a:buNone/>
            </a:pPr>
            <a:r>
              <a:rPr b="1" lang="en-GB" sz="950">
                <a:solidFill>
                  <a:srgbClr val="7A3500"/>
                </a:solidFill>
                <a:latin typeface="Consolas"/>
                <a:ea typeface="Consolas"/>
                <a:cs typeface="Consolas"/>
                <a:sym typeface="Consolas"/>
              </a:rPr>
              <a:t>Bout = 0.272R + 0.534G + 0.131B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764025" y="2478839"/>
            <a:ext cx="4343400" cy="9465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7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9BADC0">
                <a:alpha val="180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764025" y="2478839"/>
            <a:ext cx="4343400" cy="292500"/>
          </a:xfrm>
          <a:prstGeom prst="rect">
            <a:avLst/>
          </a:prstGeom>
          <a:solidFill>
            <a:srgbClr val="C0303A"/>
          </a:solidFill>
          <a:ln cap="flat" cmpd="sng" w="12700">
            <a:solidFill>
              <a:srgbClr val="C0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4764025" y="2478839"/>
            <a:ext cx="434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INVERT  (SW[3:2]=01)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855465" y="2808023"/>
            <a:ext cx="4160400" cy="548700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C0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4892041" y="2817167"/>
            <a:ext cx="4087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10"/>
              </a:buClr>
              <a:buSzPts val="950"/>
              <a:buFont typeface="Consolas"/>
              <a:buNone/>
            </a:pPr>
            <a:r>
              <a:rPr b="1" lang="en-GB" sz="950">
                <a:solidFill>
                  <a:srgbClr val="7A0010"/>
                </a:solidFill>
                <a:latin typeface="Consolas"/>
                <a:ea typeface="Consolas"/>
                <a:cs typeface="Consolas"/>
                <a:sym typeface="Consolas"/>
              </a:rPr>
              <a:t>R′ = 255 − 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10"/>
              </a:buClr>
              <a:buSzPts val="950"/>
              <a:buFont typeface="Consolas"/>
              <a:buNone/>
            </a:pPr>
            <a:r>
              <a:rPr b="1" lang="en-GB" sz="950">
                <a:solidFill>
                  <a:srgbClr val="7A0010"/>
                </a:solidFill>
                <a:latin typeface="Consolas"/>
                <a:ea typeface="Consolas"/>
                <a:cs typeface="Consolas"/>
                <a:sym typeface="Consolas"/>
              </a:rPr>
              <a:t>G′ = 255 − 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10"/>
              </a:buClr>
              <a:buSzPts val="950"/>
              <a:buFont typeface="Consolas"/>
              <a:buNone/>
            </a:pPr>
            <a:r>
              <a:rPr b="1" lang="en-GB" sz="950">
                <a:solidFill>
                  <a:srgbClr val="7A0010"/>
                </a:solidFill>
                <a:latin typeface="Consolas"/>
                <a:ea typeface="Consolas"/>
                <a:cs typeface="Consolas"/>
                <a:sym typeface="Consolas"/>
              </a:rPr>
              <a:t>B′ = 255 − B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4855465" y="3018335"/>
            <a:ext cx="41604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57201" y="3848153"/>
            <a:ext cx="4160400" cy="10197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7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9BADC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457201" y="3848153"/>
            <a:ext cx="4160400" cy="292500"/>
          </a:xfrm>
          <a:prstGeom prst="rect">
            <a:avLst/>
          </a:prstGeom>
          <a:solidFill>
            <a:srgbClr val="0096B7"/>
          </a:solidFill>
          <a:ln cap="flat" cmpd="sng" w="12700">
            <a:solidFill>
              <a:srgbClr val="0096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57201" y="3848153"/>
            <a:ext cx="416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GB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 — Sobel  (SW[3:2]=10)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548641" y="4177337"/>
            <a:ext cx="3977700" cy="603600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0096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85217" y="4186481"/>
            <a:ext cx="3904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60"/>
              </a:buClr>
              <a:buSzPts val="950"/>
              <a:buFont typeface="Consolas"/>
              <a:buNone/>
            </a:pPr>
            <a:r>
              <a:rPr b="1" lang="en-GB" sz="950">
                <a:solidFill>
                  <a:srgbClr val="004D60"/>
                </a:solidFill>
                <a:latin typeface="Consolas"/>
                <a:ea typeface="Consolas"/>
                <a:cs typeface="Consolas"/>
                <a:sym typeface="Consolas"/>
              </a:rPr>
              <a:t>Gx=(a2+2a3+a4)−(a0+2a7+a6)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60"/>
              </a:buClr>
              <a:buSzPts val="950"/>
              <a:buFont typeface="Consolas"/>
              <a:buNone/>
            </a:pPr>
            <a:r>
              <a:rPr b="1" lang="en-GB" sz="950">
                <a:solidFill>
                  <a:srgbClr val="004D60"/>
                </a:solidFill>
                <a:latin typeface="Consolas"/>
                <a:ea typeface="Consolas"/>
                <a:cs typeface="Consolas"/>
                <a:sym typeface="Consolas"/>
              </a:rPr>
              <a:t>Gy=(a0+2a1+a2)−(a6+2a5+a4)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60"/>
              </a:buClr>
              <a:buSzPts val="950"/>
              <a:buFont typeface="Consolas"/>
              <a:buNone/>
            </a:pPr>
            <a:r>
              <a:rPr b="1" lang="en-GB" sz="950">
                <a:solidFill>
                  <a:srgbClr val="004D60"/>
                </a:solidFill>
                <a:latin typeface="Consolas"/>
                <a:ea typeface="Consolas"/>
                <a:cs typeface="Consolas"/>
                <a:sym typeface="Consolas"/>
              </a:rPr>
              <a:t>grad=|Gx|+|Gy|  thr=50 → binary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4800601" y="3848153"/>
            <a:ext cx="4343400" cy="10197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7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9BADC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4800601" y="3848153"/>
            <a:ext cx="4343400" cy="292500"/>
          </a:xfrm>
          <a:prstGeom prst="rect">
            <a:avLst/>
          </a:prstGeom>
          <a:solidFill>
            <a:srgbClr val="6B4FA0"/>
          </a:solidFill>
          <a:ln cap="flat" cmpd="sng" w="12700">
            <a:solidFill>
              <a:srgbClr val="6B4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4800601" y="3848153"/>
            <a:ext cx="434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GB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CARTOON = Gaussian + Sobel  (SW[3:2]=11)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4892041" y="4177337"/>
            <a:ext cx="4160400" cy="603600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6B4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4928617" y="4186481"/>
            <a:ext cx="4087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A6A"/>
              </a:buClr>
              <a:buSzPts val="950"/>
              <a:buFont typeface="Consolas"/>
              <a:buNone/>
            </a:pPr>
            <a:r>
              <a:rPr b="1" lang="en-GB" sz="950">
                <a:solidFill>
                  <a:srgbClr val="3B1A6A"/>
                </a:solidFill>
                <a:latin typeface="Consolas"/>
                <a:ea typeface="Consolas"/>
                <a:cs typeface="Consolas"/>
                <a:sym typeface="Consolas"/>
              </a:rPr>
              <a:t>Kernel: 1 2 1 / 2 4 2 / 1 2 1  (÷16)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A6A"/>
              </a:buClr>
              <a:buSzPts val="950"/>
              <a:buFont typeface="Consolas"/>
              <a:buNone/>
            </a:pPr>
            <a:r>
              <a:rPr b="1" lang="en-GB" sz="950">
                <a:solidFill>
                  <a:srgbClr val="3B1A6A"/>
                </a:solidFill>
                <a:latin typeface="Consolas"/>
                <a:ea typeface="Consolas"/>
                <a:cs typeface="Consolas"/>
                <a:sym typeface="Consolas"/>
              </a:rPr>
              <a:t>Sobel edge&gt;100 → black outline overlay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482375" y="419325"/>
            <a:ext cx="759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WITHOUT FILTER</a:t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18"/>
          <p:cNvCxnSpPr/>
          <p:nvPr/>
        </p:nvCxnSpPr>
        <p:spPr>
          <a:xfrm>
            <a:off x="495975" y="1038225"/>
            <a:ext cx="8341200" cy="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2" name="Google Shape;14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076" y="244275"/>
            <a:ext cx="649399" cy="7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60550" y="44925"/>
            <a:ext cx="381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52652" y="188549"/>
            <a:ext cx="63900" cy="4766400"/>
          </a:xfrm>
          <a:prstGeom prst="rect">
            <a:avLst/>
          </a:prstGeom>
          <a:solidFill>
            <a:srgbClr val="3D7EBF"/>
          </a:solidFill>
          <a:ln cap="flat" cmpd="sng" w="12700">
            <a:solidFill>
              <a:srgbClr val="3D7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8" title="iitkgp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075" y="1760588"/>
            <a:ext cx="3855926" cy="2674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1525" y="1760600"/>
            <a:ext cx="3678775" cy="267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482375" y="419325"/>
            <a:ext cx="759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GREY SCALE FILTER</a:t>
            </a:r>
            <a:endParaRPr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9"/>
          <p:cNvCxnSpPr/>
          <p:nvPr/>
        </p:nvCxnSpPr>
        <p:spPr>
          <a:xfrm>
            <a:off x="495975" y="1038225"/>
            <a:ext cx="8341200" cy="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3" name="Google Shape;1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076" y="244275"/>
            <a:ext cx="649399" cy="7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/>
          <p:nvPr/>
        </p:nvSpPr>
        <p:spPr>
          <a:xfrm>
            <a:off x="152652" y="188549"/>
            <a:ext cx="63900" cy="4766400"/>
          </a:xfrm>
          <a:prstGeom prst="rect">
            <a:avLst/>
          </a:prstGeom>
          <a:solidFill>
            <a:srgbClr val="3D7EBF"/>
          </a:solidFill>
          <a:ln cap="flat" cmpd="sng" w="12700">
            <a:solidFill>
              <a:srgbClr val="3D7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975" y="1751400"/>
            <a:ext cx="3524675" cy="272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751400"/>
            <a:ext cx="3735950" cy="27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82375" y="419325"/>
            <a:ext cx="759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SEPIA FILTER</a:t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20"/>
          <p:cNvCxnSpPr/>
          <p:nvPr/>
        </p:nvCxnSpPr>
        <p:spPr>
          <a:xfrm>
            <a:off x="495975" y="1038225"/>
            <a:ext cx="8341200" cy="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076" y="244275"/>
            <a:ext cx="649399" cy="7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/>
          <p:nvPr/>
        </p:nvSpPr>
        <p:spPr>
          <a:xfrm>
            <a:off x="152652" y="188549"/>
            <a:ext cx="63900" cy="4766400"/>
          </a:xfrm>
          <a:prstGeom prst="rect">
            <a:avLst/>
          </a:prstGeom>
          <a:solidFill>
            <a:srgbClr val="3D7EBF"/>
          </a:solidFill>
          <a:ln cap="flat" cmpd="sng" w="12700">
            <a:solidFill>
              <a:srgbClr val="3D7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1337" y="1768523"/>
            <a:ext cx="3405938" cy="264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5924" y="1754225"/>
            <a:ext cx="3326476" cy="264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482375" y="419325"/>
            <a:ext cx="759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INVERT FILTER</a:t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21"/>
          <p:cNvCxnSpPr/>
          <p:nvPr/>
        </p:nvCxnSpPr>
        <p:spPr>
          <a:xfrm>
            <a:off x="495975" y="1038225"/>
            <a:ext cx="8341200" cy="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076" y="244275"/>
            <a:ext cx="649399" cy="7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/>
          <p:nvPr/>
        </p:nvSpPr>
        <p:spPr>
          <a:xfrm>
            <a:off x="152652" y="188549"/>
            <a:ext cx="63900" cy="4766400"/>
          </a:xfrm>
          <a:prstGeom prst="rect">
            <a:avLst/>
          </a:prstGeom>
          <a:solidFill>
            <a:srgbClr val="3D7EBF"/>
          </a:solidFill>
          <a:ln cap="flat" cmpd="sng" w="12700">
            <a:solidFill>
              <a:srgbClr val="3D7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9200" y="1492725"/>
            <a:ext cx="3172774" cy="267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950" y="1492725"/>
            <a:ext cx="3509750" cy="267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482375" y="419325"/>
            <a:ext cx="759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EDGE DETECTION FILTER</a:t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22"/>
          <p:cNvCxnSpPr/>
          <p:nvPr/>
        </p:nvCxnSpPr>
        <p:spPr>
          <a:xfrm>
            <a:off x="495975" y="1038225"/>
            <a:ext cx="8341200" cy="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3" name="Google Shape;18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076" y="244275"/>
            <a:ext cx="649399" cy="7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2"/>
          <p:cNvSpPr/>
          <p:nvPr/>
        </p:nvSpPr>
        <p:spPr>
          <a:xfrm>
            <a:off x="152652" y="188549"/>
            <a:ext cx="63900" cy="4766400"/>
          </a:xfrm>
          <a:prstGeom prst="rect">
            <a:avLst/>
          </a:prstGeom>
          <a:solidFill>
            <a:srgbClr val="3D7EBF"/>
          </a:solidFill>
          <a:ln cap="flat" cmpd="sng" w="12700">
            <a:solidFill>
              <a:srgbClr val="3D7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5775" y="1584375"/>
            <a:ext cx="3766575" cy="286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6325" y="1584375"/>
            <a:ext cx="3577600" cy="286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482375" y="419325"/>
            <a:ext cx="759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CARTOON FILTER</a:t>
            </a:r>
            <a:endParaRPr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23"/>
          <p:cNvCxnSpPr/>
          <p:nvPr/>
        </p:nvCxnSpPr>
        <p:spPr>
          <a:xfrm>
            <a:off x="495975" y="1038225"/>
            <a:ext cx="8341200" cy="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076" y="244275"/>
            <a:ext cx="649399" cy="7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/>
          <p:nvPr/>
        </p:nvSpPr>
        <p:spPr>
          <a:xfrm>
            <a:off x="152652" y="188549"/>
            <a:ext cx="63900" cy="4766400"/>
          </a:xfrm>
          <a:prstGeom prst="rect">
            <a:avLst/>
          </a:prstGeom>
          <a:solidFill>
            <a:srgbClr val="3D7EBF"/>
          </a:solidFill>
          <a:ln cap="flat" cmpd="sng" w="12700">
            <a:solidFill>
              <a:srgbClr val="3D7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325" y="1549400"/>
            <a:ext cx="3462875" cy="29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275" y="1549400"/>
            <a:ext cx="3462875" cy="298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